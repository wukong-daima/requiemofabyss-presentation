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lsx" ContentType="application/vnd.openxmlformats-officedocument.spreadsheetml.sheet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charts/chart1.xml" ContentType="application/vnd.openxmlformats-officedocument.drawingml.chart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/Relationships>
</file>

<file path=ppt/charts/_rels/chart1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Sheet1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chart>
    <c:autoTitleDeleted val="0"/>
    <c:plotArea>
      <c:lineChart>
        <c:grouping val="standar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엔트로피</c:v>
                </c:pt>
              </c:strCache>
            </c:strRef>
          </c:tx>
          <c:cat>
            <c:strRef>
              <c:f>Sheet1!$A$2:$A$7</c:f>
              <c:strCache>
                <c:ptCount val="6"/>
                <c:pt idx="0">
                  <c:v>1주</c:v>
                </c:pt>
                <c:pt idx="1">
                  <c:v>2주</c:v>
                </c:pt>
                <c:pt idx="2">
                  <c:v>3주</c:v>
                </c:pt>
                <c:pt idx="3">
                  <c:v>4주</c:v>
                </c:pt>
                <c:pt idx="4">
                  <c:v>5주</c:v>
                </c:pt>
                <c:pt idx="5">
                  <c:v>6주</c:v>
                </c:pt>
              </c:strCache>
            </c:strRef>
          </c:cat>
          <c:val>
            <c:numRef>
              <c:f>Sheet1!$B$2:$B$7</c:f>
              <c:numCache>
                <c:formatCode>General</c:formatCode>
                <c:ptCount val="6"/>
                <c:pt idx="0">
                  <c:v>5</c:v>
                </c:pt>
                <c:pt idx="1">
                  <c:v>6</c:v>
                </c:pt>
                <c:pt idx="2">
                  <c:v>9</c:v>
                </c:pt>
                <c:pt idx="3">
                  <c:v>7</c:v>
                </c:pt>
                <c:pt idx="4">
                  <c:v>5</c:v>
                </c:pt>
                <c:pt idx="5">
                  <c:v>6</c:v>
                </c:pt>
              </c:numCache>
            </c:numRef>
          </c:val>
          <c:smooth val="0"/>
        </c:ser>
        <c:marker val="1"/>
        <c:smooth val="0"/>
        <c:axId val="2118791784"/>
        <c:axId val="2140495176"/>
      </c:lineChart>
      <c:catAx>
        <c:axId val="2118791784"/>
        <c:scaling>
          <c:orientation val="minMax"/>
        </c:scaling>
        <c:delete val="0"/>
        <c:axPos val="b"/>
        <c:majorTickMark val="out"/>
        <c:minorTickMark val="none"/>
        <c:tickLblPos val="nextTo"/>
        <c:crossAx val="2140495176"/>
        <c:crosses val="autoZero"/>
        <c:auto val="1"/>
        <c:lblAlgn val="ctr"/>
        <c:lblOffset val="100"/>
        <c:noMultiLvlLbl val="0"/>
      </c:catAx>
      <c:valAx>
        <c:axId val="2140495176"/>
        <c:scaling/>
        <c:delete val="0"/>
        <c:axPos val="l"/>
        <c:majorGridlines/>
        <c:majorTickMark val="out"/>
        <c:minorTickMark val="none"/>
        <c:tickLblPos val="nextTo"/>
        <c:crossAx val="2118791784"/>
        <c:crosses val="autoZero"/>
      </c:valAx>
    </c:plotArea>
    <c:legend>
      <c:legendPos val="r"/>
      <c:layout/>
      <c:overlay val="0"/>
    </c:legend>
    <c:plotVisOnly val="1"/>
    <c:dispBlanksAs val="gap"/>
    <c:showDLblsOverMax val="0"/>
  </c:chart>
  <c:txPr>
    <a:bodyPr/>
    <a:lstStyle/>
    <a:p>
      <a:pPr>
        <a:defRPr sz="1800"/>
      </a:pPr>
      <a:endParaRPr lang="en-US"/>
    </a:p>
  </c:txPr>
  <c:externalData r:id="rId1">
    <c:autoUpdate val="0"/>
  </c:externalData>
</c:chartSpace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chart" Target="../charts/chart1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A0A1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1463040"/>
            <a:ext cx="10058400" cy="2743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500" b="0" i="1">
                <a:solidFill>
                  <a:srgbClr val="E8B962"/>
                </a:solidFill>
                <a:latin typeface="Georgia"/>
              </a:rPr>
              <a:t>An archive of the inner abyss</a:t>
            </a:r>
          </a:p>
          <a:p>
            <a:r>
              <a:rPr sz="5400" b="1" i="0">
                <a:solidFill>
                  <a:srgbClr val="ECECF4"/>
                </a:solidFill>
                <a:latin typeface="Georgia"/>
              </a:rPr>
              <a:t>The Map of Abysses</a:t>
            </a:r>
          </a:p>
          <a:p>
            <a:r>
              <a:rPr sz="2400" b="0" i="0">
                <a:solidFill>
                  <a:srgbClr val="ECECF4"/>
                </a:solidFill>
                <a:latin typeface="Malgun Gothic"/>
              </a:rPr>
              <a:t>시그널 로그 — 6주 개인 아카이브 프로젝트</a:t>
            </a:r>
          </a:p>
          <a:p>
            <a:r>
              <a:rPr sz="1400" b="0" i="0">
                <a:solidFill>
                  <a:srgbClr val="9494B4"/>
                </a:solidFill>
                <a:latin typeface="Malgun Gothic"/>
              </a:rPr>
              <a:t>철학 · 심연 · 엔트로피 · 음악적 형상화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858000" y="4206240"/>
            <a:ext cx="4572000" cy="1828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/>
          <a:p>
            <a:pPr algn="r"/>
            <a:r>
              <a:rPr sz="1300" b="0" i="0">
                <a:solidFill>
                  <a:srgbClr val="9494B4"/>
                </a:solidFill>
                <a:latin typeface="Malgun Gothic"/>
              </a:rPr>
              <a:t>학번  </a:t>
            </a:r>
            <a:r>
              <a:rPr sz="2000" b="0" i="0">
                <a:solidFill>
                  <a:srgbClr val="ECECF4"/>
                </a:solidFill>
                <a:latin typeface="Malgun Gothic"/>
              </a:rPr>
              <a:t>2025451047</a:t>
            </a:r>
          </a:p>
          <a:p>
            <a:pPr algn="r"/>
            <a:r>
              <a:rPr sz="1300" b="0" i="0">
                <a:solidFill>
                  <a:srgbClr val="9494B4"/>
                </a:solidFill>
                <a:latin typeface="Malgun Gothic"/>
              </a:rPr>
              <a:t>전공  </a:t>
            </a:r>
            <a:r>
              <a:rPr sz="2000" b="0" i="0">
                <a:solidFill>
                  <a:srgbClr val="ECECF4"/>
                </a:solidFill>
                <a:latin typeface="Malgun Gothic"/>
              </a:rPr>
              <a:t>융합인문공학</a:t>
            </a:r>
          </a:p>
          <a:p>
            <a:pPr algn="r"/>
            <a:r>
              <a:rPr sz="1300" b="0" i="0">
                <a:solidFill>
                  <a:srgbClr val="9494B4"/>
                </a:solidFill>
                <a:latin typeface="Malgun Gothic"/>
              </a:rPr>
              <a:t>성명  </a:t>
            </a:r>
            <a:r>
              <a:rPr sz="2000" b="0" i="0">
                <a:solidFill>
                  <a:srgbClr val="ECECF4"/>
                </a:solidFill>
                <a:latin typeface="Malgun Gothic"/>
              </a:rPr>
              <a:t>손재완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6355080"/>
            <a:ext cx="10972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9494B4"/>
                </a:solidFill>
                <a:latin typeface="Georgia"/>
              </a:rPr>
              <a:t>The Map of Abysses · Signal Log    /    2026 연세대학교 · 융합인문공학    </a:t>
            </a:r>
            <a:r>
              <a:rPr sz="1100" b="0" i="0">
                <a:solidFill>
                  <a:srgbClr val="E8B962"/>
                </a:solidFill>
                <a:latin typeface="Georgia"/>
              </a:rPr>
              <a:t>01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A0A1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457200"/>
            <a:ext cx="10972800" cy="1188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300" b="0" i="1">
                <a:solidFill>
                  <a:srgbClr val="E8B962"/>
                </a:solidFill>
                <a:latin typeface="Georgia"/>
              </a:rPr>
              <a:t>The project at a glance</a:t>
            </a:r>
          </a:p>
          <a:p>
            <a:r>
              <a:rPr sz="3200" b="1" i="0">
                <a:solidFill>
                  <a:srgbClr val="ECECF4"/>
                </a:solidFill>
                <a:latin typeface="Malgun Gothic"/>
              </a:rPr>
              <a:t>전체 구성 — 프로젝트의 핵심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640080" y="1920240"/>
            <a:ext cx="3520440" cy="3657600"/>
          </a:xfrm>
          <a:prstGeom prst="roundRect">
            <a:avLst/>
          </a:prstGeom>
          <a:solidFill>
            <a:srgbClr val="13132A"/>
          </a:solidFill>
          <a:ln>
            <a:solidFill>
              <a:srgbClr val="26264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74320" tIns="274320"/>
          <a:lstStyle/>
          <a:p>
            <a:pPr algn="ctr"/>
            <a:r>
              <a:rPr sz="1300" b="1" i="0">
                <a:solidFill>
                  <a:srgbClr val="5AA9FF"/>
                </a:solidFill>
                <a:latin typeface="Georgia"/>
              </a:rPr>
              <a:t>DATA</a:t>
            </a:r>
          </a:p>
          <a:p>
            <a:r>
              <a:rPr sz="2600" b="1" i="0">
                <a:solidFill>
                  <a:srgbClr val="ECECF4"/>
                </a:solidFill>
                <a:latin typeface="Malgun Gothic"/>
              </a:rPr>
              <a:t>기록</a:t>
            </a:r>
          </a:p>
          <a:p>
            <a:r>
              <a:rPr sz="1400" b="0" i="0">
                <a:solidFill>
                  <a:srgbClr val="9494B4"/>
                </a:solidFill>
                <a:latin typeface="Malgun Gothic"/>
              </a:rPr>
              <a:t>6주간 내면의 무질서도·감정 키워드·회복의 순간을 축적한다.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4434840" y="1920240"/>
            <a:ext cx="3520440" cy="3657600"/>
          </a:xfrm>
          <a:prstGeom prst="roundRect">
            <a:avLst/>
          </a:prstGeom>
          <a:solidFill>
            <a:srgbClr val="13132A"/>
          </a:solidFill>
          <a:ln>
            <a:solidFill>
              <a:srgbClr val="26264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74320" tIns="274320"/>
          <a:lstStyle/>
          <a:p>
            <a:pPr algn="ctr"/>
            <a:r>
              <a:rPr sz="1300" b="1" i="0">
                <a:solidFill>
                  <a:srgbClr val="A78BFA"/>
                </a:solidFill>
                <a:latin typeface="Georgia"/>
              </a:rPr>
              <a:t>THEORY</a:t>
            </a:r>
          </a:p>
          <a:p>
            <a:r>
              <a:rPr sz="2600" b="1" i="0">
                <a:solidFill>
                  <a:srgbClr val="ECECF4"/>
                </a:solidFill>
                <a:latin typeface="Malgun Gothic"/>
              </a:rPr>
              <a:t>분석</a:t>
            </a:r>
          </a:p>
          <a:p>
            <a:r>
              <a:rPr sz="1400" b="0" i="0">
                <a:solidFill>
                  <a:srgbClr val="9494B4"/>
                </a:solidFill>
                <a:latin typeface="Malgun Gothic"/>
              </a:rPr>
              <a:t>스피노자·니체·자기조직화 개념으로 데이터를 해석한다.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8229600" y="1920240"/>
            <a:ext cx="3520440" cy="3657600"/>
          </a:xfrm>
          <a:prstGeom prst="roundRect">
            <a:avLst/>
          </a:prstGeom>
          <a:solidFill>
            <a:srgbClr val="13132A"/>
          </a:solidFill>
          <a:ln>
            <a:solidFill>
              <a:srgbClr val="26264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74320" tIns="274320"/>
          <a:lstStyle/>
          <a:p>
            <a:pPr algn="ctr"/>
            <a:r>
              <a:rPr sz="1300" b="1" i="0">
                <a:solidFill>
                  <a:srgbClr val="E8B962"/>
                </a:solidFill>
                <a:latin typeface="Georgia"/>
              </a:rPr>
              <a:t>ART</a:t>
            </a:r>
          </a:p>
          <a:p>
            <a:r>
              <a:rPr sz="2600" b="1" i="0">
                <a:solidFill>
                  <a:srgbClr val="ECECF4"/>
                </a:solidFill>
                <a:latin typeface="Malgun Gothic"/>
              </a:rPr>
              <a:t>형상화</a:t>
            </a:r>
          </a:p>
          <a:p>
            <a:r>
              <a:rPr sz="1400" b="0" i="0">
                <a:solidFill>
                  <a:srgbClr val="9494B4"/>
                </a:solidFill>
                <a:latin typeface="Malgun Gothic"/>
              </a:rPr>
              <a:t>음악적 형식과 문장으로 내면의 흐름을 작품처럼 시각화한다.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" y="6355080"/>
            <a:ext cx="10972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9494B4"/>
                </a:solidFill>
                <a:latin typeface="Georgia"/>
              </a:rPr>
              <a:t>The Map of Abysses · Signal Log    /    2026 연세대학교 · 융합인문공학    </a:t>
            </a:r>
            <a:r>
              <a:rPr sz="1100" b="0" i="0">
                <a:solidFill>
                  <a:srgbClr val="E8B962"/>
                </a:solidFill>
                <a:latin typeface="Georgia"/>
              </a:rPr>
              <a:t>02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A0A1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457200"/>
            <a:ext cx="10972800" cy="1188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300" b="0" i="1">
                <a:solidFill>
                  <a:srgbClr val="E8B962"/>
                </a:solidFill>
                <a:latin typeface="Georgia"/>
              </a:rPr>
              <a:t>Accumulated signal · capture</a:t>
            </a:r>
          </a:p>
          <a:p>
            <a:r>
              <a:rPr sz="3200" b="1" i="0">
                <a:solidFill>
                  <a:srgbClr val="ECECF4"/>
                </a:solidFill>
                <a:latin typeface="Malgun Gothic"/>
              </a:rPr>
              <a:t>시그널 로그 축적 결과</a:t>
            </a:r>
          </a:p>
        </p:txBody>
      </p:sp>
      <p:pic>
        <p:nvPicPr>
          <p:cNvPr id="4" name="Picture 3" descr="signal-log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0080" y="1828800"/>
            <a:ext cx="3017520" cy="4023360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6035040" y="1828800"/>
            <a:ext cx="5486400" cy="411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/>
          <a:p>
            <a:pPr>
              <a:spcAft>
                <a:spcPts val="1400"/>
              </a:spcAft>
            </a:pPr>
            <a:r>
              <a:rPr sz="1600" b="0" i="1">
                <a:solidFill>
                  <a:srgbClr val="E8B962"/>
                </a:solidFill>
                <a:latin typeface="Georgia"/>
              </a:rPr>
              <a:t>01  </a:t>
            </a:r>
            <a:r>
              <a:rPr sz="1700" b="0" i="0">
                <a:solidFill>
                  <a:srgbClr val="ECECF4"/>
                </a:solidFill>
                <a:latin typeface="Malgun Gothic"/>
              </a:rPr>
              <a:t>이번 주 나의 내면적 무질서도(엔트로피)는 얼마인가?</a:t>
            </a:r>
          </a:p>
          <a:p>
            <a:pPr>
              <a:spcAft>
                <a:spcPts val="1400"/>
              </a:spcAft>
            </a:pPr>
            <a:r>
              <a:rPr sz="1600" b="0" i="1">
                <a:solidFill>
                  <a:srgbClr val="E8B962"/>
                </a:solidFill>
                <a:latin typeface="Georgia"/>
              </a:rPr>
              <a:t>02  </a:t>
            </a:r>
            <a:r>
              <a:rPr sz="1700" b="0" i="0">
                <a:solidFill>
                  <a:srgbClr val="ECECF4"/>
                </a:solidFill>
                <a:latin typeface="Malgun Gothic"/>
              </a:rPr>
              <a:t>이번 주 나의 삶의 흐름을 음악적 형식으로 비유한다면?</a:t>
            </a:r>
          </a:p>
          <a:p>
            <a:pPr>
              <a:spcAft>
                <a:spcPts val="1400"/>
              </a:spcAft>
            </a:pPr>
            <a:r>
              <a:rPr sz="1600" b="0" i="1">
                <a:solidFill>
                  <a:srgbClr val="E8B962"/>
                </a:solidFill>
                <a:latin typeface="Georgia"/>
              </a:rPr>
              <a:t>03  </a:t>
            </a:r>
            <a:r>
              <a:rPr sz="1700" b="0" i="0">
                <a:solidFill>
                  <a:srgbClr val="ECECF4"/>
                </a:solidFill>
                <a:latin typeface="Malgun Gothic"/>
              </a:rPr>
              <a:t>이번 주 나의 심연을 한 문장으로 정의한다면?</a:t>
            </a:r>
          </a:p>
          <a:p>
            <a:pPr>
              <a:spcAft>
                <a:spcPts val="1400"/>
              </a:spcAft>
            </a:pPr>
            <a:r>
              <a:rPr sz="1600" b="0" i="1">
                <a:solidFill>
                  <a:srgbClr val="E8B962"/>
                </a:solidFill>
                <a:latin typeface="Georgia"/>
              </a:rPr>
              <a:t>04  </a:t>
            </a:r>
            <a:r>
              <a:rPr sz="1700" b="0" i="0">
                <a:solidFill>
                  <a:srgbClr val="ECECF4"/>
                </a:solidFill>
                <a:latin typeface="Malgun Gothic"/>
              </a:rPr>
              <a:t>오컴의 면도칼로 불필요한 감정을 제거한 뒤 남은 동력은?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6355080"/>
            <a:ext cx="10972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9494B4"/>
                </a:solidFill>
                <a:latin typeface="Georgia"/>
              </a:rPr>
              <a:t>The Map of Abysses · Signal Log    /    2026 연세대학교 · 융합인문공학    </a:t>
            </a:r>
            <a:r>
              <a:rPr sz="1100" b="0" i="0">
                <a:solidFill>
                  <a:srgbClr val="E8B962"/>
                </a:solidFill>
                <a:latin typeface="Georgia"/>
              </a:rPr>
              <a:t>03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A0A1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457200"/>
            <a:ext cx="10972800" cy="1188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300" b="0" i="1">
                <a:solidFill>
                  <a:srgbClr val="E8B962"/>
                </a:solidFill>
                <a:latin typeface="Georgia"/>
              </a:rPr>
              <a:t>Stage 1 · Accumulated signal</a:t>
            </a:r>
          </a:p>
          <a:p>
            <a:r>
              <a:rPr sz="3200" b="1" i="0">
                <a:solidFill>
                  <a:srgbClr val="ECECF4"/>
                </a:solidFill>
                <a:latin typeface="Malgun Gothic"/>
              </a:rPr>
              <a:t>6주 데이터 — 나의 시그널 로그</a:t>
            </a:r>
          </a:p>
        </p:txBody>
      </p:sp>
      <p:graphicFrame>
        <p:nvGraphicFramePr>
          <p:cNvPr id="4" name="Table 3"/>
          <p:cNvGraphicFramePr>
            <a:graphicFrameLocks noGrp="1"/>
          </p:cNvGraphicFramePr>
          <p:nvPr/>
        </p:nvGraphicFramePr>
        <p:xfrm>
          <a:off x="640080" y="1828800"/>
          <a:ext cx="10972800" cy="402336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194560"/>
                <a:gridCol w="2194560"/>
                <a:gridCol w="2194560"/>
                <a:gridCol w="2194560"/>
                <a:gridCol w="2194560"/>
              </a:tblGrid>
              <a:tr h="574765">
                <a:tc>
                  <a:txBody>
                    <a:bodyPr/>
                    <a:lstStyle/>
                    <a:p>
                      <a:r>
                        <a:rPr sz="1300" b="1">
                          <a:solidFill>
                            <a:srgbClr val="E8B962"/>
                          </a:solidFill>
                          <a:latin typeface="Malgun Gothic"/>
                        </a:rPr>
                        <a:t>주차</a:t>
                      </a:r>
                    </a:p>
                  </a:txBody>
                  <a:tcPr>
                    <a:solidFill>
                      <a:srgbClr val="13132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00" b="1">
                          <a:solidFill>
                            <a:srgbClr val="E8B962"/>
                          </a:solidFill>
                          <a:latin typeface="Malgun Gothic"/>
                        </a:rPr>
                        <a:t>엔트로피</a:t>
                      </a:r>
                    </a:p>
                  </a:txBody>
                  <a:tcPr>
                    <a:solidFill>
                      <a:srgbClr val="13132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00" b="1">
                          <a:solidFill>
                            <a:srgbClr val="E8B962"/>
                          </a:solidFill>
                          <a:latin typeface="Malgun Gothic"/>
                        </a:rPr>
                        <a:t>감정 키워드</a:t>
                      </a:r>
                    </a:p>
                  </a:txBody>
                  <a:tcPr>
                    <a:solidFill>
                      <a:srgbClr val="13132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00" b="1">
                          <a:solidFill>
                            <a:srgbClr val="E8B962"/>
                          </a:solidFill>
                          <a:latin typeface="Malgun Gothic"/>
                        </a:rPr>
                        <a:t>음악 형식</a:t>
                      </a:r>
                    </a:p>
                  </a:txBody>
                  <a:tcPr>
                    <a:solidFill>
                      <a:srgbClr val="13132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00" b="1">
                          <a:solidFill>
                            <a:srgbClr val="E8B962"/>
                          </a:solidFill>
                          <a:latin typeface="Malgun Gothic"/>
                        </a:rPr>
                        <a:t>핵심 문장</a:t>
                      </a:r>
                    </a:p>
                  </a:txBody>
                  <a:tcPr>
                    <a:solidFill>
                      <a:srgbClr val="13132A"/>
                    </a:solidFill>
                  </a:tcPr>
                </a:tc>
              </a:tr>
              <a:tr h="574765">
                <a:tc>
                  <a:txBody>
                    <a:bodyPr/>
                    <a:lstStyle/>
                    <a:p>
                      <a:r>
                        <a:rPr sz="1300" b="0">
                          <a:solidFill>
                            <a:srgbClr val="ECECF4"/>
                          </a:solidFill>
                          <a:latin typeface="Malgun Gothic"/>
                        </a:rPr>
                        <a:t>1주차 (5월 둘째주)</a:t>
                      </a:r>
                    </a:p>
                  </a:txBody>
                  <a:tcPr>
                    <a:solidFill>
                      <a:srgbClr val="0A0A14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00" b="1">
                          <a:solidFill>
                            <a:srgbClr val="A78BFA"/>
                          </a:solidFill>
                          <a:latin typeface="Malgun Gothic"/>
                        </a:rPr>
                        <a:t>5</a:t>
                      </a:r>
                    </a:p>
                  </a:txBody>
                  <a:tcPr>
                    <a:solidFill>
                      <a:srgbClr val="0A0A14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00" b="0">
                          <a:solidFill>
                            <a:srgbClr val="ECECF4"/>
                          </a:solidFill>
                          <a:latin typeface="Malgun Gothic"/>
                        </a:rPr>
                        <a:t>적응·분주</a:t>
                      </a:r>
                    </a:p>
                  </a:txBody>
                  <a:tcPr>
                    <a:solidFill>
                      <a:srgbClr val="0A0A14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00" b="0">
                          <a:solidFill>
                            <a:srgbClr val="ECECF4"/>
                          </a:solidFill>
                          <a:latin typeface="Malgun Gothic"/>
                        </a:rPr>
                        <a:t>푸가</a:t>
                      </a:r>
                    </a:p>
                  </a:txBody>
                  <a:tcPr>
                    <a:solidFill>
                      <a:srgbClr val="0A0A14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0">
                          <a:solidFill>
                            <a:srgbClr val="ECECF4"/>
                          </a:solidFill>
                          <a:latin typeface="Malgun Gothic"/>
                        </a:rPr>
                        <a:t>여러 책임을 동시에 끌어안은 단단한 분주함.</a:t>
                      </a:r>
                    </a:p>
                  </a:txBody>
                  <a:tcPr>
                    <a:solidFill>
                      <a:srgbClr val="0A0A14"/>
                    </a:solidFill>
                  </a:tcPr>
                </a:tc>
              </a:tr>
              <a:tr h="574765">
                <a:tc>
                  <a:txBody>
                    <a:bodyPr/>
                    <a:lstStyle/>
                    <a:p>
                      <a:r>
                        <a:rPr sz="1300" b="0">
                          <a:solidFill>
                            <a:srgbClr val="ECECF4"/>
                          </a:solidFill>
                          <a:latin typeface="Malgun Gothic"/>
                        </a:rPr>
                        <a:t>2주차 (5월 셋째주)</a:t>
                      </a:r>
                    </a:p>
                  </a:txBody>
                  <a:tcPr>
                    <a:solidFill>
                      <a:srgbClr val="0A0A14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00" b="1">
                          <a:solidFill>
                            <a:srgbClr val="A78BFA"/>
                          </a:solidFill>
                          <a:latin typeface="Malgun Gothic"/>
                        </a:rPr>
                        <a:t>6</a:t>
                      </a:r>
                    </a:p>
                  </a:txBody>
                  <a:tcPr>
                    <a:solidFill>
                      <a:srgbClr val="0A0A14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00" b="0">
                          <a:solidFill>
                            <a:srgbClr val="ECECF4"/>
                          </a:solidFill>
                          <a:latin typeface="Malgun Gothic"/>
                        </a:rPr>
                        <a:t>중재·찝찝</a:t>
                      </a:r>
                    </a:p>
                  </a:txBody>
                  <a:tcPr>
                    <a:solidFill>
                      <a:srgbClr val="0A0A14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00" b="0">
                          <a:solidFill>
                            <a:srgbClr val="ECECF4"/>
                          </a:solidFill>
                          <a:latin typeface="Malgun Gothic"/>
                        </a:rPr>
                        <a:t>칸타타</a:t>
                      </a:r>
                    </a:p>
                  </a:txBody>
                  <a:tcPr>
                    <a:solidFill>
                      <a:srgbClr val="0A0A14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0">
                          <a:solidFill>
                            <a:srgbClr val="ECECF4"/>
                          </a:solidFill>
                          <a:latin typeface="Malgun Gothic"/>
                        </a:rPr>
                        <a:t>타인의 갈등을 매듭짓느라 정리 못한 찝찝함.</a:t>
                      </a:r>
                    </a:p>
                  </a:txBody>
                  <a:tcPr>
                    <a:solidFill>
                      <a:srgbClr val="0A0A14"/>
                    </a:solidFill>
                  </a:tcPr>
                </a:tc>
              </a:tr>
              <a:tr h="574765">
                <a:tc>
                  <a:txBody>
                    <a:bodyPr/>
                    <a:lstStyle/>
                    <a:p>
                      <a:r>
                        <a:rPr sz="1300" b="0">
                          <a:solidFill>
                            <a:srgbClr val="ECECF4"/>
                          </a:solidFill>
                          <a:latin typeface="Malgun Gothic"/>
                        </a:rPr>
                        <a:t>3주차 (5월 넷째주)</a:t>
                      </a:r>
                    </a:p>
                  </a:txBody>
                  <a:tcPr>
                    <a:solidFill>
                      <a:srgbClr val="0A0A14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00" b="1">
                          <a:solidFill>
                            <a:srgbClr val="E85A6B"/>
                          </a:solidFill>
                          <a:latin typeface="Malgun Gothic"/>
                        </a:rPr>
                        <a:t>9</a:t>
                      </a:r>
                    </a:p>
                  </a:txBody>
                  <a:tcPr>
                    <a:solidFill>
                      <a:srgbClr val="0A0A14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00" b="0">
                          <a:solidFill>
                            <a:srgbClr val="ECECF4"/>
                          </a:solidFill>
                          <a:latin typeface="Malgun Gothic"/>
                        </a:rPr>
                        <a:t>혼돈·균열</a:t>
                      </a:r>
                    </a:p>
                  </a:txBody>
                  <a:tcPr>
                    <a:solidFill>
                      <a:srgbClr val="0A0A14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00" b="0">
                          <a:solidFill>
                            <a:srgbClr val="ECECF4"/>
                          </a:solidFill>
                          <a:latin typeface="Malgun Gothic"/>
                        </a:rPr>
                        <a:t>랩소디</a:t>
                      </a:r>
                    </a:p>
                  </a:txBody>
                  <a:tcPr>
                    <a:solidFill>
                      <a:srgbClr val="0A0A14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0">
                          <a:solidFill>
                            <a:srgbClr val="ECECF4"/>
                          </a:solidFill>
                          <a:latin typeface="Malgun Gothic"/>
                        </a:rPr>
                        <a:t>가까운 사람과 어긋나 무너져 내리는 흔들림.</a:t>
                      </a:r>
                    </a:p>
                  </a:txBody>
                  <a:tcPr>
                    <a:solidFill>
                      <a:srgbClr val="0A0A14"/>
                    </a:solidFill>
                  </a:tcPr>
                </a:tc>
              </a:tr>
              <a:tr h="574765">
                <a:tc>
                  <a:txBody>
                    <a:bodyPr/>
                    <a:lstStyle/>
                    <a:p>
                      <a:r>
                        <a:rPr sz="1300" b="0">
                          <a:solidFill>
                            <a:srgbClr val="ECECF4"/>
                          </a:solidFill>
                          <a:latin typeface="Malgun Gothic"/>
                        </a:rPr>
                        <a:t>4주차 (5월 다섯째주)</a:t>
                      </a:r>
                    </a:p>
                  </a:txBody>
                  <a:tcPr>
                    <a:solidFill>
                      <a:srgbClr val="0A0A14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00" b="1">
                          <a:solidFill>
                            <a:srgbClr val="F08A5D"/>
                          </a:solidFill>
                          <a:latin typeface="Malgun Gothic"/>
                        </a:rPr>
                        <a:t>7</a:t>
                      </a:r>
                    </a:p>
                  </a:txBody>
                  <a:tcPr>
                    <a:solidFill>
                      <a:srgbClr val="0A0A14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00" b="0">
                          <a:solidFill>
                            <a:srgbClr val="ECECF4"/>
                          </a:solidFill>
                          <a:latin typeface="Malgun Gothic"/>
                        </a:rPr>
                        <a:t>회복·소진</a:t>
                      </a:r>
                    </a:p>
                  </a:txBody>
                  <a:tcPr>
                    <a:solidFill>
                      <a:srgbClr val="0A0A14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00" b="0">
                          <a:solidFill>
                            <a:srgbClr val="ECECF4"/>
                          </a:solidFill>
                          <a:latin typeface="Malgun Gothic"/>
                        </a:rPr>
                        <a:t>소나타</a:t>
                      </a:r>
                    </a:p>
                  </a:txBody>
                  <a:tcPr>
                    <a:solidFill>
                      <a:srgbClr val="0A0A14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0">
                          <a:solidFill>
                            <a:srgbClr val="ECECF4"/>
                          </a:solidFill>
                          <a:latin typeface="Malgun Gothic"/>
                        </a:rPr>
                        <a:t>무너진 자리를 다시 쌓는 안간힘.</a:t>
                      </a:r>
                    </a:p>
                  </a:txBody>
                  <a:tcPr>
                    <a:solidFill>
                      <a:srgbClr val="0A0A14"/>
                    </a:solidFill>
                  </a:tcPr>
                </a:tc>
              </a:tr>
              <a:tr h="574765">
                <a:tc>
                  <a:txBody>
                    <a:bodyPr/>
                    <a:lstStyle/>
                    <a:p>
                      <a:r>
                        <a:rPr sz="1300" b="0">
                          <a:solidFill>
                            <a:srgbClr val="ECECF4"/>
                          </a:solidFill>
                          <a:latin typeface="Malgun Gothic"/>
                        </a:rPr>
                        <a:t>5주차 (6월 첫째주)</a:t>
                      </a:r>
                    </a:p>
                  </a:txBody>
                  <a:tcPr>
                    <a:solidFill>
                      <a:srgbClr val="0A0A14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00" b="1">
                          <a:solidFill>
                            <a:srgbClr val="A78BFA"/>
                          </a:solidFill>
                          <a:latin typeface="Malgun Gothic"/>
                        </a:rPr>
                        <a:t>5</a:t>
                      </a:r>
                    </a:p>
                  </a:txBody>
                  <a:tcPr>
                    <a:solidFill>
                      <a:srgbClr val="0A0A14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00" b="0">
                          <a:solidFill>
                            <a:srgbClr val="ECECF4"/>
                          </a:solidFill>
                          <a:latin typeface="Malgun Gothic"/>
                        </a:rPr>
                        <a:t>결의·마무리</a:t>
                      </a:r>
                    </a:p>
                  </a:txBody>
                  <a:tcPr>
                    <a:solidFill>
                      <a:srgbClr val="0A0A14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00" b="0">
                          <a:solidFill>
                            <a:srgbClr val="ECECF4"/>
                          </a:solidFill>
                          <a:latin typeface="Malgun Gothic"/>
                        </a:rPr>
                        <a:t>서곡</a:t>
                      </a:r>
                    </a:p>
                  </a:txBody>
                  <a:tcPr>
                    <a:solidFill>
                      <a:srgbClr val="0A0A14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0">
                          <a:solidFill>
                            <a:srgbClr val="ECECF4"/>
                          </a:solidFill>
                          <a:latin typeface="Malgun Gothic"/>
                        </a:rPr>
                        <a:t>마지막 무대를 위해 아쉬움마저 결의로.</a:t>
                      </a:r>
                    </a:p>
                  </a:txBody>
                  <a:tcPr>
                    <a:solidFill>
                      <a:srgbClr val="0A0A14"/>
                    </a:solidFill>
                  </a:tcPr>
                </a:tc>
              </a:tr>
              <a:tr h="574770">
                <a:tc>
                  <a:txBody>
                    <a:bodyPr/>
                    <a:lstStyle/>
                    <a:p>
                      <a:r>
                        <a:rPr sz="1300" b="0">
                          <a:solidFill>
                            <a:srgbClr val="ECECF4"/>
                          </a:solidFill>
                          <a:latin typeface="Malgun Gothic"/>
                        </a:rPr>
                        <a:t>6주차 (6월 둘째주)</a:t>
                      </a:r>
                    </a:p>
                  </a:txBody>
                  <a:tcPr>
                    <a:solidFill>
                      <a:srgbClr val="0A0A14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00" b="1">
                          <a:solidFill>
                            <a:srgbClr val="A78BFA"/>
                          </a:solidFill>
                          <a:latin typeface="Malgun Gothic"/>
                        </a:rPr>
                        <a:t>6</a:t>
                      </a:r>
                    </a:p>
                  </a:txBody>
                  <a:tcPr>
                    <a:solidFill>
                      <a:srgbClr val="0A0A14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00" b="0">
                          <a:solidFill>
                            <a:srgbClr val="ECECF4"/>
                          </a:solidFill>
                          <a:latin typeface="Malgun Gothic"/>
                        </a:rPr>
                        <a:t>통찰·전환</a:t>
                      </a:r>
                    </a:p>
                  </a:txBody>
                  <a:tcPr>
                    <a:solidFill>
                      <a:srgbClr val="0A0A14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00" b="0">
                          <a:solidFill>
                            <a:srgbClr val="ECECF4"/>
                          </a:solidFill>
                          <a:latin typeface="Malgun Gothic"/>
                        </a:rPr>
                        <a:t>토카타</a:t>
                      </a:r>
                    </a:p>
                  </a:txBody>
                  <a:tcPr>
                    <a:solidFill>
                      <a:srgbClr val="0A0A14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0">
                          <a:solidFill>
                            <a:srgbClr val="ECECF4"/>
                          </a:solidFill>
                          <a:latin typeface="Malgun Gothic"/>
                        </a:rPr>
                        <a:t>한 시기를 매듭짓고 다음으로 건너가는 밀도.</a:t>
                      </a:r>
                    </a:p>
                  </a:txBody>
                  <a:tcPr>
                    <a:solidFill>
                      <a:srgbClr val="0A0A14"/>
                    </a:solidFill>
                  </a:tcPr>
                </a:tc>
              </a:tr>
            </a:tbl>
          </a:graphicData>
        </a:graphic>
      </p:graphicFrame>
      <p:sp>
        <p:nvSpPr>
          <p:cNvPr id="5" name="TextBox 4"/>
          <p:cNvSpPr txBox="1"/>
          <p:nvPr/>
        </p:nvSpPr>
        <p:spPr>
          <a:xfrm>
            <a:off x="640080" y="6355080"/>
            <a:ext cx="10972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9494B4"/>
                </a:solidFill>
                <a:latin typeface="Georgia"/>
              </a:rPr>
              <a:t>The Map of Abysses · Signal Log    /    2026 연세대학교 · 융합인문공학    </a:t>
            </a:r>
            <a:r>
              <a:rPr sz="1100" b="0" i="0">
                <a:solidFill>
                  <a:srgbClr val="E8B962"/>
                </a:solidFill>
                <a:latin typeface="Georgia"/>
              </a:rPr>
              <a:t>04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A0A1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457200"/>
            <a:ext cx="10972800" cy="1188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300" b="0" i="1">
                <a:solidFill>
                  <a:srgbClr val="E8B962"/>
                </a:solidFill>
                <a:latin typeface="Georgia"/>
              </a:rPr>
              <a:t>Stage 1 · The curve</a:t>
            </a:r>
          </a:p>
          <a:p>
            <a:r>
              <a:rPr sz="3200" b="1" i="0">
                <a:solidFill>
                  <a:srgbClr val="ECECF4"/>
                </a:solidFill>
                <a:latin typeface="Malgun Gothic"/>
              </a:rPr>
              <a:t>엔트로피 변화 그래프</a:t>
            </a:r>
          </a:p>
        </p:txBody>
      </p:sp>
      <p:graphicFrame>
        <p:nvGraphicFramePr>
          <p:cNvPr id="4" name="Chart 3"/>
          <p:cNvGraphicFramePr>
            <a:graphicFrameLocks noGrp="1"/>
          </p:cNvGraphicFramePr>
          <p:nvPr/>
        </p:nvGraphicFramePr>
        <p:xfrm>
          <a:off x="640080" y="1828800"/>
          <a:ext cx="6583680" cy="3931920"/>
        </p:xfrm>
        <a:graphic>
          <a:graphicData uri="http://schemas.openxmlformats.org/drawingml/2006/chart">
            <c:chart xmlns:c="http://schemas.openxmlformats.org/drawingml/2006/chart" r:id="rId2"/>
          </a:graphicData>
        </a:graphic>
      </p:graphicFrame>
      <p:sp>
        <p:nvSpPr>
          <p:cNvPr id="5" name="TextBox 4"/>
          <p:cNvSpPr txBox="1"/>
          <p:nvPr/>
        </p:nvSpPr>
        <p:spPr>
          <a:xfrm>
            <a:off x="7498079" y="1920240"/>
            <a:ext cx="4114800" cy="3657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/>
          <a:p>
            <a:r>
              <a:rPr sz="1800" b="0" i="1">
                <a:solidFill>
                  <a:srgbClr val="E8B962"/>
                </a:solidFill>
                <a:latin typeface="Malgun Gothic"/>
              </a:rPr>
              <a:t>해석</a:t>
            </a:r>
          </a:p>
          <a:p>
            <a:r>
              <a:rPr sz="1500" b="0" i="0">
                <a:solidFill>
                  <a:srgbClr val="ECECF4"/>
                </a:solidFill>
                <a:latin typeface="Malgun Gothic"/>
              </a:rPr>
              <a:t>· 3주차 엔트로피 최고점(9) — 관계의 균열</a:t>
            </a:r>
          </a:p>
          <a:p>
            <a:r>
              <a:rPr sz="1500" b="0" i="0">
                <a:solidFill>
                  <a:srgbClr val="ECECF4"/>
                </a:solidFill>
                <a:latin typeface="Malgun Gothic"/>
              </a:rPr>
              <a:t>· 4주차부터 감정의 명명·정리 시작</a:t>
            </a:r>
          </a:p>
          <a:p>
            <a:r>
              <a:rPr sz="1500" b="0" i="0">
                <a:solidFill>
                  <a:srgbClr val="ECECF4"/>
                </a:solidFill>
                <a:latin typeface="Malgun Gothic"/>
              </a:rPr>
              <a:t>· 5–6주차 결의로 다시 안정</a:t>
            </a:r>
          </a:p>
          <a:p>
            <a:r>
              <a:rPr sz="1500" b="0" i="0">
                <a:solidFill>
                  <a:srgbClr val="ECECF4"/>
                </a:solidFill>
                <a:latin typeface="Malgun Gothic"/>
              </a:rPr>
              <a:t/>
            </a:r>
          </a:p>
          <a:p>
            <a:r>
              <a:rPr sz="1500" b="0" i="0">
                <a:solidFill>
                  <a:srgbClr val="ECECF4"/>
                </a:solidFill>
                <a:latin typeface="Malgun Gothic"/>
              </a:rPr>
              <a:t>핵심: 왜 그 지점에서 오르내렸는지 서사화한다.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6355080"/>
            <a:ext cx="10972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9494B4"/>
                </a:solidFill>
                <a:latin typeface="Georgia"/>
              </a:rPr>
              <a:t>The Map of Abysses · Signal Log    /    2026 연세대학교 · 융합인문공학    </a:t>
            </a:r>
            <a:r>
              <a:rPr sz="1100" b="0" i="0">
                <a:solidFill>
                  <a:srgbClr val="E8B962"/>
                </a:solidFill>
                <a:latin typeface="Georgia"/>
              </a:rPr>
              <a:t>05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A0A1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457200"/>
            <a:ext cx="10972800" cy="1188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300" b="0" i="1">
                <a:solidFill>
                  <a:srgbClr val="E8B962"/>
                </a:solidFill>
                <a:latin typeface="Georgia"/>
              </a:rPr>
              <a:t>Stage 1 · Self-organization</a:t>
            </a:r>
          </a:p>
          <a:p>
            <a:r>
              <a:rPr sz="3200" b="1" i="0">
                <a:solidFill>
                  <a:srgbClr val="ECECF4"/>
                </a:solidFill>
                <a:latin typeface="Malgun Gothic"/>
              </a:rPr>
              <a:t>엔트로피의 자기조직화 — 흐름도</a:t>
            </a:r>
          </a:p>
        </p:txBody>
      </p:sp>
      <p:sp>
        <p:nvSpPr>
          <p:cNvPr id="4" name="Chevron 3"/>
          <p:cNvSpPr/>
          <p:nvPr/>
        </p:nvSpPr>
        <p:spPr>
          <a:xfrm>
            <a:off x="640080" y="2377440"/>
            <a:ext cx="2743200" cy="1188720"/>
          </a:xfrm>
          <a:prstGeom prst="chevron">
            <a:avLst/>
          </a:prstGeom>
          <a:solidFill>
            <a:srgbClr val="E85A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800" b="1" i="0">
                <a:solidFill>
                  <a:srgbClr val="0A0A14"/>
                </a:solidFill>
                <a:latin typeface="Malgun Gothic"/>
              </a:rPr>
              <a:t>무질서</a:t>
            </a:r>
          </a:p>
          <a:p>
            <a:pPr algn="ctr"/>
            <a:r>
              <a:rPr sz="1100" b="0" i="0">
                <a:solidFill>
                  <a:srgbClr val="0A0A14"/>
                </a:solidFill>
                <a:latin typeface="Malgun Gothic"/>
              </a:rPr>
              <a:t>고엔트로피</a:t>
            </a:r>
          </a:p>
        </p:txBody>
      </p:sp>
      <p:sp>
        <p:nvSpPr>
          <p:cNvPr id="5" name="Chevron 4"/>
          <p:cNvSpPr/>
          <p:nvPr/>
        </p:nvSpPr>
        <p:spPr>
          <a:xfrm>
            <a:off x="3383280" y="2377440"/>
            <a:ext cx="2743200" cy="1188720"/>
          </a:xfrm>
          <a:prstGeom prst="chevron">
            <a:avLst/>
          </a:prstGeom>
          <a:solidFill>
            <a:srgbClr val="F0A04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800" b="1" i="0">
                <a:solidFill>
                  <a:srgbClr val="0A0A14"/>
                </a:solidFill>
                <a:latin typeface="Malgun Gothic"/>
              </a:rPr>
              <a:t>신호 감지</a:t>
            </a:r>
          </a:p>
          <a:p>
            <a:pPr algn="ctr"/>
            <a:r>
              <a:rPr sz="1100" b="0" i="0">
                <a:solidFill>
                  <a:srgbClr val="0A0A14"/>
                </a:solidFill>
                <a:latin typeface="Malgun Gothic"/>
              </a:rPr>
              <a:t>패턴 발견</a:t>
            </a:r>
          </a:p>
        </p:txBody>
      </p:sp>
      <p:sp>
        <p:nvSpPr>
          <p:cNvPr id="6" name="Chevron 5"/>
          <p:cNvSpPr/>
          <p:nvPr/>
        </p:nvSpPr>
        <p:spPr>
          <a:xfrm>
            <a:off x="6126480" y="2377440"/>
            <a:ext cx="2743200" cy="1188720"/>
          </a:xfrm>
          <a:prstGeom prst="chevron">
            <a:avLst/>
          </a:prstGeom>
          <a:solidFill>
            <a:srgbClr val="5AA9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800" b="1" i="0">
                <a:solidFill>
                  <a:srgbClr val="0A0A14"/>
                </a:solidFill>
                <a:latin typeface="Malgun Gothic"/>
              </a:rPr>
              <a:t>자기조직화</a:t>
            </a:r>
          </a:p>
          <a:p>
            <a:pPr algn="ctr"/>
            <a:r>
              <a:rPr sz="1100" b="0" i="0">
                <a:solidFill>
                  <a:srgbClr val="0A0A14"/>
                </a:solidFill>
                <a:latin typeface="Malgun Gothic"/>
              </a:rPr>
              <a:t>구조 형성</a:t>
            </a:r>
          </a:p>
        </p:txBody>
      </p:sp>
      <p:sp>
        <p:nvSpPr>
          <p:cNvPr id="7" name="Chevron 6"/>
          <p:cNvSpPr/>
          <p:nvPr/>
        </p:nvSpPr>
        <p:spPr>
          <a:xfrm>
            <a:off x="8869680" y="2377440"/>
            <a:ext cx="2743200" cy="1188720"/>
          </a:xfrm>
          <a:prstGeom prst="chevron">
            <a:avLst/>
          </a:prstGeom>
          <a:solidFill>
            <a:srgbClr val="3FD6C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800" b="1" i="0">
                <a:solidFill>
                  <a:srgbClr val="0A0A14"/>
                </a:solidFill>
                <a:latin typeface="Malgun Gothic"/>
              </a:rPr>
              <a:t>형상화</a:t>
            </a:r>
          </a:p>
          <a:p>
            <a:pPr algn="ctr"/>
            <a:r>
              <a:rPr sz="1100" b="0" i="0">
                <a:solidFill>
                  <a:srgbClr val="0A0A14"/>
                </a:solidFill>
                <a:latin typeface="Malgun Gothic"/>
              </a:rPr>
              <a:t>예술적 질서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40080" y="4206240"/>
            <a:ext cx="109728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200" b="1" i="0">
                <a:solidFill>
                  <a:srgbClr val="E8B962"/>
                </a:solidFill>
                <a:latin typeface="Malgun Gothic"/>
              </a:rPr>
              <a:t>"혼돈을 없애는 것이 아니라, 혼돈 안의 신호를 찾아 형식으로 만드는 과정."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40080" y="6355080"/>
            <a:ext cx="10972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9494B4"/>
                </a:solidFill>
                <a:latin typeface="Georgia"/>
              </a:rPr>
              <a:t>The Map of Abysses · Signal Log    /    2026 연세대학교 · 융합인문공학    </a:t>
            </a:r>
            <a:r>
              <a:rPr sz="1100" b="0" i="0">
                <a:solidFill>
                  <a:srgbClr val="E8B962"/>
                </a:solidFill>
                <a:latin typeface="Georgia"/>
              </a:rPr>
              <a:t>06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A0A1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457200"/>
            <a:ext cx="10972800" cy="1188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300" b="0" i="1">
                <a:solidFill>
                  <a:srgbClr val="E8B962"/>
                </a:solidFill>
                <a:latin typeface="Georgia"/>
              </a:rPr>
              <a:t>Stage 2 · Forms of feeling</a:t>
            </a:r>
          </a:p>
          <a:p>
            <a:r>
              <a:rPr sz="3200" b="1" i="0">
                <a:solidFill>
                  <a:srgbClr val="ECECF4"/>
                </a:solidFill>
                <a:latin typeface="Malgun Gothic"/>
              </a:rPr>
              <a:t>음악적 형식으로 감정을 분류하다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640080" y="1920240"/>
            <a:ext cx="3520440" cy="1737360"/>
          </a:xfrm>
          <a:prstGeom prst="roundRect">
            <a:avLst/>
          </a:prstGeom>
          <a:solidFill>
            <a:srgbClr val="13132A"/>
          </a:solidFill>
          <a:ln>
            <a:solidFill>
              <a:srgbClr val="26264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/>
          <a:lstStyle/>
          <a:p>
            <a:pPr algn="ctr"/>
            <a:r>
              <a:rPr sz="2000" b="1" i="0">
                <a:solidFill>
                  <a:srgbClr val="ECECF4"/>
                </a:solidFill>
                <a:latin typeface="Malgun Gothic"/>
              </a:rPr>
              <a:t>푸가</a:t>
            </a:r>
          </a:p>
          <a:p>
            <a:r>
              <a:rPr sz="1300" b="0" i="0">
                <a:solidFill>
                  <a:srgbClr val="9494B4"/>
                </a:solidFill>
                <a:latin typeface="Malgun Gothic"/>
              </a:rPr>
              <a:t>1주차 · 여러 성부가 얽힘 — 복직·공연·과제 멀티태스킹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4434840" y="1920240"/>
            <a:ext cx="3520440" cy="1737360"/>
          </a:xfrm>
          <a:prstGeom prst="roundRect">
            <a:avLst/>
          </a:prstGeom>
          <a:solidFill>
            <a:srgbClr val="13132A"/>
          </a:solidFill>
          <a:ln>
            <a:solidFill>
              <a:srgbClr val="26264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/>
          <a:lstStyle/>
          <a:p>
            <a:pPr algn="ctr"/>
            <a:r>
              <a:rPr sz="2000" b="1" i="0">
                <a:solidFill>
                  <a:srgbClr val="ECECF4"/>
                </a:solidFill>
                <a:latin typeface="Malgun Gothic"/>
              </a:rPr>
              <a:t>칸타타</a:t>
            </a:r>
          </a:p>
          <a:p>
            <a:r>
              <a:rPr sz="1300" b="0" i="0">
                <a:solidFill>
                  <a:srgbClr val="9494B4"/>
                </a:solidFill>
                <a:latin typeface="Malgun Gothic"/>
              </a:rPr>
              <a:t>2주차 · 여러 목소리의 기승전결 — 갈등 중재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8229600" y="1920240"/>
            <a:ext cx="3520440" cy="1737360"/>
          </a:xfrm>
          <a:prstGeom prst="roundRect">
            <a:avLst/>
          </a:prstGeom>
          <a:solidFill>
            <a:srgbClr val="13132A"/>
          </a:solidFill>
          <a:ln>
            <a:solidFill>
              <a:srgbClr val="26264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/>
          <a:lstStyle/>
          <a:p>
            <a:pPr algn="ctr"/>
            <a:r>
              <a:rPr sz="2000" b="1" i="0">
                <a:solidFill>
                  <a:srgbClr val="ECECF4"/>
                </a:solidFill>
                <a:latin typeface="Malgun Gothic"/>
              </a:rPr>
              <a:t>랩소디</a:t>
            </a:r>
          </a:p>
          <a:p>
            <a:r>
              <a:rPr sz="1300" b="0" i="0">
                <a:solidFill>
                  <a:srgbClr val="9494B4"/>
                </a:solidFill>
                <a:latin typeface="Malgun Gothic"/>
              </a:rPr>
              <a:t>3주차 · 자유로운 형식·화려한 기복 — 다툼의 격동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40080" y="3840480"/>
            <a:ext cx="3520440" cy="1737360"/>
          </a:xfrm>
          <a:prstGeom prst="roundRect">
            <a:avLst/>
          </a:prstGeom>
          <a:solidFill>
            <a:srgbClr val="13132A"/>
          </a:solidFill>
          <a:ln>
            <a:solidFill>
              <a:srgbClr val="26264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/>
          <a:lstStyle/>
          <a:p>
            <a:pPr algn="ctr"/>
            <a:r>
              <a:rPr sz="2000" b="1" i="0">
                <a:solidFill>
                  <a:srgbClr val="ECECF4"/>
                </a:solidFill>
                <a:latin typeface="Malgun Gothic"/>
              </a:rPr>
              <a:t>소나타</a:t>
            </a:r>
          </a:p>
          <a:p>
            <a:r>
              <a:rPr sz="1300" b="0" i="0">
                <a:solidFill>
                  <a:srgbClr val="9494B4"/>
                </a:solidFill>
                <a:latin typeface="Malgun Gothic"/>
              </a:rPr>
              <a:t>4주차 · 제시-발전-재현 — 갈등에서 화해로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4434840" y="3840480"/>
            <a:ext cx="3520440" cy="1737360"/>
          </a:xfrm>
          <a:prstGeom prst="roundRect">
            <a:avLst/>
          </a:prstGeom>
          <a:solidFill>
            <a:srgbClr val="13132A"/>
          </a:solidFill>
          <a:ln>
            <a:solidFill>
              <a:srgbClr val="26264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/>
          <a:lstStyle/>
          <a:p>
            <a:pPr algn="ctr"/>
            <a:r>
              <a:rPr sz="2000" b="1" i="0">
                <a:solidFill>
                  <a:srgbClr val="ECECF4"/>
                </a:solidFill>
                <a:latin typeface="Malgun Gothic"/>
              </a:rPr>
              <a:t>서곡</a:t>
            </a:r>
          </a:p>
          <a:p>
            <a:r>
              <a:rPr sz="1300" b="0" i="0">
                <a:solidFill>
                  <a:srgbClr val="9494B4"/>
                </a:solidFill>
                <a:latin typeface="Malgun Gothic"/>
              </a:rPr>
              <a:t>5주차 · 무대 전 에너지 응축 — 기행 준비의 결의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8229600" y="3840480"/>
            <a:ext cx="3520440" cy="1737360"/>
          </a:xfrm>
          <a:prstGeom prst="roundRect">
            <a:avLst/>
          </a:prstGeom>
          <a:solidFill>
            <a:srgbClr val="13132A"/>
          </a:solidFill>
          <a:ln>
            <a:solidFill>
              <a:srgbClr val="26264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/>
          <a:lstStyle/>
          <a:p>
            <a:pPr algn="ctr"/>
            <a:r>
              <a:rPr sz="2000" b="1" i="0">
                <a:solidFill>
                  <a:srgbClr val="ECECF4"/>
                </a:solidFill>
                <a:latin typeface="Malgun Gothic"/>
              </a:rPr>
              <a:t>토카타</a:t>
            </a:r>
          </a:p>
          <a:p>
            <a:r>
              <a:rPr sz="1300" b="0" i="0">
                <a:solidFill>
                  <a:srgbClr val="9494B4"/>
                </a:solidFill>
                <a:latin typeface="Malgun Gothic"/>
              </a:rPr>
              <a:t>6주차 · 몰아치는 기교 — 시험·마무리의 고밀도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40080" y="6355080"/>
            <a:ext cx="10972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9494B4"/>
                </a:solidFill>
                <a:latin typeface="Georgia"/>
              </a:rPr>
              <a:t>The Map of Abysses · Signal Log    /    2026 연세대학교 · 융합인문공학    </a:t>
            </a:r>
            <a:r>
              <a:rPr sz="1100" b="0" i="0">
                <a:solidFill>
                  <a:srgbClr val="E8B962"/>
                </a:solidFill>
                <a:latin typeface="Georgia"/>
              </a:rPr>
              <a:t>07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A0A1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457200"/>
            <a:ext cx="10972800" cy="1188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300" b="0" i="1">
                <a:solidFill>
                  <a:srgbClr val="E8B962"/>
                </a:solidFill>
                <a:latin typeface="Georgia"/>
              </a:rPr>
              <a:t>Stage 3 · Theory ①</a:t>
            </a:r>
          </a:p>
          <a:p>
            <a:r>
              <a:rPr sz="3200" b="1" i="0">
                <a:solidFill>
                  <a:srgbClr val="ECECF4"/>
                </a:solidFill>
                <a:latin typeface="Malgun Gothic"/>
              </a:rPr>
              <a:t>스피노자 — 행위역량(conatus)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1920240"/>
            <a:ext cx="10789920" cy="4023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800"/>
              </a:spcAft>
            </a:pPr>
            <a:r>
              <a:rPr sz="2300" b="1" i="0">
                <a:solidFill>
                  <a:srgbClr val="E8B962"/>
                </a:solidFill>
                <a:latin typeface="Malgun Gothic"/>
              </a:rPr>
              <a:t>엔트로피가 치솟은 주차에 나의 행위역량은 어떻게 무너졌는가?</a:t>
            </a:r>
          </a:p>
          <a:p>
            <a:pPr>
              <a:lnSpc>
                <a:spcPct val="160000"/>
              </a:lnSpc>
            </a:pPr>
            <a:r>
              <a:rPr sz="1900" b="0" i="0">
                <a:solidFill>
                  <a:srgbClr val="ECECF4"/>
                </a:solidFill>
                <a:latin typeface="Malgun Gothic"/>
              </a:rPr>
              <a:t>스피노자에게 기쁨은 행위역량(conatus)의 증대이고 슬픔은 그 감소다. 3주차 다툼으로 엔트로피는 9까지 치솟았고, 이는 무언가를 시작할 힘조차 줄어든 역량의 급감이었다. 4주차 대화를 택하자 역량은 회복(7)되기 시작했다. 나의 엔트로피 곡선은 곧 행위역량의 그래프였다.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6355080"/>
            <a:ext cx="10972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9494B4"/>
                </a:solidFill>
                <a:latin typeface="Georgia"/>
              </a:rPr>
              <a:t>The Map of Abysses · Signal Log    /    2026 연세대학교 · 융합인문공학    </a:t>
            </a:r>
            <a:r>
              <a:rPr sz="1100" b="0" i="0">
                <a:solidFill>
                  <a:srgbClr val="E8B962"/>
                </a:solidFill>
                <a:latin typeface="Georgia"/>
              </a:rPr>
              <a:t>08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A0A1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457200"/>
            <a:ext cx="10972800" cy="1188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300" b="0" i="1">
                <a:solidFill>
                  <a:srgbClr val="E8B962"/>
                </a:solidFill>
                <a:latin typeface="Georgia"/>
              </a:rPr>
              <a:t>Stage 3 · Theory ②</a:t>
            </a:r>
          </a:p>
          <a:p>
            <a:r>
              <a:rPr sz="3200" b="1" i="0">
                <a:solidFill>
                  <a:srgbClr val="ECECF4"/>
                </a:solidFill>
                <a:latin typeface="Malgun Gothic"/>
              </a:rPr>
              <a:t>니체 — 자기극복 · 아모르파티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1920240"/>
            <a:ext cx="10789920" cy="4023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800"/>
              </a:spcAft>
            </a:pPr>
            <a:r>
              <a:rPr sz="2300" b="1" i="0">
                <a:solidFill>
                  <a:srgbClr val="E8B962"/>
                </a:solidFill>
                <a:latin typeface="Malgun Gothic"/>
              </a:rPr>
              <a:t>고통을 통과한 힘은 새로운 가치로 전환될 수 있는가?</a:t>
            </a:r>
          </a:p>
          <a:p>
            <a:pPr>
              <a:lnSpc>
                <a:spcPct val="160000"/>
              </a:lnSpc>
            </a:pPr>
            <a:r>
              <a:rPr sz="1900" b="0" i="0">
                <a:solidFill>
                  <a:srgbClr val="ECECF4"/>
                </a:solidFill>
                <a:latin typeface="Malgun Gothic"/>
              </a:rPr>
              <a:t>니체는 고통을 제거 대상이 아니라 자기를 넘어서는 출발점으로 읽었다. 3주차의 균열은 내가 무엇을 견딜 수 있는지 확인하게 했고, 그 통과의 경험은 5·6주차의 결의와 밀도로 이어졌다. 나는 다툼을 후회로 남기지 않고 운명으로 끌어안아(amor fati) 다음 동력으로 바꾸었다.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6355080"/>
            <a:ext cx="10972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9494B4"/>
                </a:solidFill>
                <a:latin typeface="Georgia"/>
              </a:rPr>
              <a:t>The Map of Abysses · Signal Log    /    2026 연세대학교 · 융합인문공학    </a:t>
            </a:r>
            <a:r>
              <a:rPr sz="1100" b="0" i="0">
                <a:solidFill>
                  <a:srgbClr val="E8B962"/>
                </a:solidFill>
                <a:latin typeface="Georgia"/>
              </a:rPr>
              <a:t>09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A0A1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457200"/>
            <a:ext cx="10972800" cy="1188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300" b="0" i="1">
                <a:solidFill>
                  <a:srgbClr val="E8B962"/>
                </a:solidFill>
                <a:latin typeface="Georgia"/>
              </a:rPr>
              <a:t>Stage 3 · Theory ③</a:t>
            </a:r>
          </a:p>
          <a:p>
            <a:r>
              <a:rPr sz="3200" b="1" i="0">
                <a:solidFill>
                  <a:srgbClr val="ECECF4"/>
                </a:solidFill>
                <a:latin typeface="Malgun Gothic"/>
              </a:rPr>
              <a:t>자기조직화 — 엔트로피와 형식(공학)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1920240"/>
            <a:ext cx="10789920" cy="4023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800"/>
              </a:spcAft>
            </a:pPr>
            <a:r>
              <a:rPr sz="2300" b="1" i="0">
                <a:solidFill>
                  <a:srgbClr val="E8B962"/>
                </a:solidFill>
                <a:latin typeface="Malgun Gothic"/>
              </a:rPr>
              <a:t>혼돈은 어떻게 스스로 질서를 만드는가?</a:t>
            </a:r>
          </a:p>
          <a:p>
            <a:pPr>
              <a:lnSpc>
                <a:spcPct val="160000"/>
              </a:lnSpc>
            </a:pPr>
            <a:r>
              <a:rPr sz="1900" b="0" i="0">
                <a:solidFill>
                  <a:srgbClr val="ECECF4"/>
                </a:solidFill>
                <a:latin typeface="Malgun Gothic"/>
              </a:rPr>
              <a:t>복잡계는 고엔트로피 상태에서 에너지를 주고받으며 스스로 패턴을 만든다(자기조직화). 3주차의 무질서는 사라지지 않았다. 대신 나는 그 혼돈 속 반복되는 신호 — 책임감, 관계를 지키려는 의지 — 를 감지해 음악적 형식으로 수렴시켰다. 융합인문공학도로서 감정을 '없앨 노이즈'가 아니라 '형식을 찾을 신호'로 다루었다.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6355080"/>
            <a:ext cx="10972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9494B4"/>
                </a:solidFill>
                <a:latin typeface="Georgia"/>
              </a:rPr>
              <a:t>The Map of Abysses · Signal Log    /    2026 연세대학교 · 융합인문공학    </a:t>
            </a:r>
            <a:r>
              <a:rPr sz="1100" b="0" i="0">
                <a:solidFill>
                  <a:srgbClr val="E8B962"/>
                </a:solidFill>
                <a:latin typeface="Georgia"/>
              </a:rPr>
              <a:t>10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A0A1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457200"/>
            <a:ext cx="10972800" cy="1188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300" b="0" i="1">
                <a:solidFill>
                  <a:srgbClr val="E8B962"/>
                </a:solidFill>
                <a:latin typeface="Georgia"/>
              </a:rPr>
              <a:t>Stage 4 · The sentence</a:t>
            </a:r>
          </a:p>
          <a:p>
            <a:r>
              <a:rPr sz="3200" b="1" i="0">
                <a:solidFill>
                  <a:srgbClr val="ECECF4"/>
                </a:solidFill>
                <a:latin typeface="Malgun Gothic"/>
              </a:rPr>
              <a:t>나의 심연을 정의하는 문장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1828800"/>
            <a:ext cx="1078992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200" b="0" i="1">
                <a:solidFill>
                  <a:srgbClr val="ECECF4"/>
                </a:solidFill>
                <a:latin typeface="Georgia"/>
              </a:rPr>
              <a:t>"And when you gaze long into an abyss, the abyss also gazes into you."</a:t>
            </a:r>
          </a:p>
          <a:p>
            <a:r>
              <a:rPr sz="1400" b="0" i="0">
                <a:solidFill>
                  <a:srgbClr val="9494B4"/>
                </a:solidFill>
                <a:latin typeface="Malgun Gothic"/>
              </a:rPr>
              <a:t>심연을 오래 들여다보면, 심연도 너를 들여다본다. — 니체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3566160"/>
            <a:ext cx="10789920" cy="2011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2000"/>
              </a:spcAft>
            </a:pPr>
            <a:r>
              <a:rPr sz="1600" b="0" i="0">
                <a:solidFill>
                  <a:srgbClr val="9494B4"/>
                </a:solidFill>
                <a:latin typeface="Malgun Gothic"/>
              </a:rPr>
              <a:t>나는 6주간 나의 심연을 들여다보았고, 거기서 나를 마주 보는 한 문장을 건졌다.</a:t>
            </a:r>
          </a:p>
          <a:p>
            <a:r>
              <a:rPr sz="3000" b="1" i="0">
                <a:solidFill>
                  <a:srgbClr val="ECECF4"/>
                </a:solidFill>
                <a:latin typeface="Malgun Gothic"/>
              </a:rPr>
              <a:t>나의 심연은 무너짐이 아니라, 무너진 자리에서도</a:t>
            </a:r>
          </a:p>
          <a:p>
            <a:r>
              <a:rPr sz="3000" b="1" i="0">
                <a:solidFill>
                  <a:srgbClr val="ECECF4"/>
                </a:solidFill>
                <a:latin typeface="Malgun Gothic"/>
              </a:rPr>
              <a:t>끝내 책임과 사랑을 놓지 않으려는 힘이었다.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6355080"/>
            <a:ext cx="10972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9494B4"/>
                </a:solidFill>
                <a:latin typeface="Georgia"/>
              </a:rPr>
              <a:t>The Map of Abysses · Signal Log    /    2026 연세대학교 · 융합인문공학    </a:t>
            </a:r>
            <a:r>
              <a:rPr sz="1100" b="0" i="0">
                <a:solidFill>
                  <a:srgbClr val="E8B962"/>
                </a:solidFill>
                <a:latin typeface="Georgia"/>
              </a:rPr>
              <a:t>11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A0A1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457200"/>
            <a:ext cx="10972800" cy="1188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300" b="0" i="1">
                <a:solidFill>
                  <a:srgbClr val="E8B962"/>
                </a:solidFill>
                <a:latin typeface="Georgia"/>
              </a:rPr>
              <a:t>Conclusion</a:t>
            </a:r>
          </a:p>
          <a:p>
            <a:r>
              <a:rPr sz="3200" b="1" i="0">
                <a:solidFill>
                  <a:srgbClr val="ECECF4"/>
                </a:solidFill>
                <a:latin typeface="Malgun Gothic"/>
              </a:rPr>
              <a:t>내가 발견한 동력과 다음 움직임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1920240"/>
            <a:ext cx="5120640" cy="3657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</a:pPr>
            <a:r>
              <a:rPr sz="1800" b="0" i="1">
                <a:solidFill>
                  <a:srgbClr val="E8B962"/>
                </a:solidFill>
                <a:latin typeface="Georgia"/>
              </a:rPr>
              <a:t>발견한 내면의 동력</a:t>
            </a:r>
          </a:p>
          <a:p>
            <a:pPr>
              <a:lnSpc>
                <a:spcPct val="160000"/>
              </a:lnSpc>
            </a:pPr>
            <a:r>
              <a:rPr sz="1800" b="0" i="0">
                <a:solidFill>
                  <a:srgbClr val="ECECF4"/>
                </a:solidFill>
                <a:latin typeface="Malgun Gothic"/>
              </a:rPr>
              <a:t>책임감, 관계를 지키려는 사랑, 끝까지 마무리하려는 성실함 — 혼돈의 주차마다 반복된 이 세 신호가 나를 다시 일으킨 동력이었다.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035040" y="1920240"/>
            <a:ext cx="5486400" cy="3657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</a:pPr>
            <a:r>
              <a:rPr sz="1800" b="0" i="1">
                <a:solidFill>
                  <a:srgbClr val="E8B962"/>
                </a:solidFill>
                <a:latin typeface="Georgia"/>
              </a:rPr>
              <a:t>다음 움직임</a:t>
            </a:r>
          </a:p>
          <a:p>
            <a:pPr>
              <a:lnSpc>
                <a:spcPct val="150000"/>
              </a:lnSpc>
            </a:pPr>
            <a:r>
              <a:rPr sz="1700" b="0" i="0">
                <a:solidFill>
                  <a:srgbClr val="ECECF4"/>
                </a:solidFill>
                <a:latin typeface="Malgun Gothic"/>
              </a:rPr>
              <a:t>1. 엔트로피가 치솟기 전 '신호'를 먼저 기록한다.</a:t>
            </a:r>
          </a:p>
          <a:p>
            <a:pPr>
              <a:lnSpc>
                <a:spcPct val="150000"/>
              </a:lnSpc>
            </a:pPr>
            <a:r>
              <a:rPr sz="1700" b="0" i="0">
                <a:solidFill>
                  <a:srgbClr val="ECECF4"/>
                </a:solidFill>
                <a:latin typeface="Malgun Gothic"/>
              </a:rPr>
              <a:t>2. 갈등을 회피하지 않고 대화로 역량을 회복하는 패턴을 반복한다.</a:t>
            </a:r>
          </a:p>
          <a:p>
            <a:pPr>
              <a:lnSpc>
                <a:spcPct val="150000"/>
              </a:lnSpc>
            </a:pPr>
            <a:r>
              <a:rPr sz="1700" b="0" i="0">
                <a:solidFill>
                  <a:srgbClr val="ECECF4"/>
                </a:solidFill>
                <a:latin typeface="Malgun Gothic"/>
              </a:rPr>
              <a:t>3. 과대 임기 이후에도 이 아카이브를 이어간다.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5577840"/>
            <a:ext cx="109728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000" b="1" i="0">
                <a:solidFill>
                  <a:srgbClr val="E8B962"/>
                </a:solidFill>
                <a:latin typeface="Malgun Gothic"/>
              </a:rPr>
              <a:t>기록은 나를 설명하는 데이터가 되고, 해석은 나를 움직이게 하는 힘이 된다.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" y="6355080"/>
            <a:ext cx="10972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9494B4"/>
                </a:solidFill>
                <a:latin typeface="Georgia"/>
              </a:rPr>
              <a:t>The Map of Abysses · Signal Log    /    2026 연세대학교 · 융합인문공학    </a:t>
            </a:r>
            <a:r>
              <a:rPr sz="1100" b="0" i="0">
                <a:solidFill>
                  <a:srgbClr val="E8B962"/>
                </a:solidFill>
                <a:latin typeface="Georgia"/>
              </a:rPr>
              <a:t>12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